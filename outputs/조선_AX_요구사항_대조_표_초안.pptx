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9fffc39c164182" /><Relationship Type="http://schemas.openxmlformats.org/officeDocument/2006/relationships/extended-properties" Target="/docProps/app.xml" Id="R05b79a5b5b9c416a" /><Relationship Type="http://schemas.openxmlformats.org/officeDocument/2006/relationships/officeDocument" Target="/ppt/presentation.xml" Id="R81c9714446b84d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ffb8f0e84a40ed"/>
  </p:sldMasterIdLst>
  <p:notesMasterIdLst>
    <p:notesMasterId xmlns:r="http://schemas.openxmlformats.org/officeDocument/2006/relationships" r:id="R091b2b4620234330"/>
  </p:notesMasterIdLst>
  <p:sldIdLst>
    <p:sldId xmlns:r="http://schemas.openxmlformats.org/officeDocument/2006/relationships" id="256" r:id="Raaa8a4b5918e4de3"/>
    <p:sldId xmlns:r="http://schemas.openxmlformats.org/officeDocument/2006/relationships" id="257" r:id="R2a9d3bee974746fc"/>
    <p:sldId xmlns:r="http://schemas.openxmlformats.org/officeDocument/2006/relationships" id="258" r:id="R2878c26d8dcf42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fe1ded6684be6" /><Relationship Type="http://schemas.openxmlformats.org/officeDocument/2006/relationships/slideMaster" Target="/ppt/slideMasters/slideMaster1.xml" Id="Rdcffb8f0e84a40ed" /><Relationship Type="http://schemas.openxmlformats.org/officeDocument/2006/relationships/notesMaster" Target="/ppt/notesMasters/notesMaster1.xml" Id="R091b2b4620234330" /><Relationship Type="http://schemas.openxmlformats.org/officeDocument/2006/relationships/presProps" Target="/ppt/presProps.xml" Id="R0d44c69445a84295" /><Relationship Type="http://schemas.openxmlformats.org/officeDocument/2006/relationships/tableStyles" Target="/ppt/tableStyles.xml" Id="Rc695e6d76c90482a" /><Relationship Type="http://schemas.openxmlformats.org/officeDocument/2006/relationships/slide" Target="/ppt/slides/slide1.xml" Id="Raaa8a4b5918e4de3" /><Relationship Type="http://schemas.openxmlformats.org/officeDocument/2006/relationships/slide" Target="/ppt/slides/slide2.xml" Id="R2a9d3bee974746fc" /><Relationship Type="http://schemas.openxmlformats.org/officeDocument/2006/relationships/slide" Target="/ppt/slides/slide3.xml" Id="R2878c26d8dcf42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5cc89ac3354c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de1eb3e4d421b" /><Relationship Type="http://schemas.openxmlformats.org/officeDocument/2006/relationships/notesMaster" Target="/ppt/notesMasters/notesMaster1.xml" Id="R1c49846a2b33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ce4f6835414823" /><Relationship Type="http://schemas.openxmlformats.org/officeDocument/2006/relationships/notesMaster" Target="/ppt/notesMasters/notesMaster1.xml" Id="R02ca06f3212a44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b747d8496b4cf4" /><Relationship Type="http://schemas.openxmlformats.org/officeDocument/2006/relationships/notesMaster" Target="/ppt/notesMasters/notesMaster1.xml" Id="Ra48f61d3941143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8dcf2f6a44e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e10cec32f42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8e9ffcda64e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41f1186e74d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d9d8e071547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944a5d70345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B3311-5BBA-4D24-BB2A-C811DBEF41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A51C49-867F-409D-9860-3E2ED93DEE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668E0D-031F-425F-A5C9-569256E2C0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F3AB98-6C88-466E-B433-34B7809DB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7E915E-9F07-492B-8397-2D337503A5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9BD9B1-FED8-4480-B0A5-8BA571214D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87A774-EFE5-45EB-8198-8B1BC1731A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9AC2D9-49B8-4D70-B566-B917E9A32D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3E643D-2411-4753-97F1-4E81E5334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486509-7417-41A3-A515-F2E6128B8D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d24792c31342df" /><Relationship Type="http://schemas.openxmlformats.org/officeDocument/2006/relationships/slideLayout" Target="/ppt/slideLayouts/slideLayout1.xml" Id="Rad612ca958e04e04" /><Relationship Type="http://schemas.openxmlformats.org/officeDocument/2006/relationships/slideLayout" Target="/ppt/slideLayouts/slideLayout2.xml" Id="Rbcad9253b4d84e70" /><Relationship Type="http://schemas.openxmlformats.org/officeDocument/2006/relationships/slideLayout" Target="/ppt/slideLayouts/slideLayout3.xml" Id="Rd4d1fe9b0ae84590" /><Relationship Type="http://schemas.openxmlformats.org/officeDocument/2006/relationships/slideLayout" Target="/ppt/slideLayouts/slideLayout4.xml" Id="R98f42f2f57f34380" /><Relationship Type="http://schemas.openxmlformats.org/officeDocument/2006/relationships/slideLayout" Target="/ppt/slideLayouts/slideLayout5.xml" Id="Rfe9446e204de4d20" /><Relationship Type="http://schemas.openxmlformats.org/officeDocument/2006/relationships/slideLayout" Target="/ppt/slideLayouts/slideLayout6.xml" Id="R99e370a34869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12ca958e04e04"/>
    <p:sldLayoutId xmlns:r="http://schemas.openxmlformats.org/officeDocument/2006/relationships" id="2147483650" r:id="Rbcad9253b4d84e70"/>
    <p:sldLayoutId xmlns:r="http://schemas.openxmlformats.org/officeDocument/2006/relationships" id="2147483651" r:id="Rd4d1fe9b0ae84590"/>
    <p:sldLayoutId xmlns:r="http://schemas.openxmlformats.org/officeDocument/2006/relationships" id="2147483652" r:id="R98f42f2f57f34380"/>
    <p:sldLayoutId xmlns:r="http://schemas.openxmlformats.org/officeDocument/2006/relationships" id="2147483653" r:id="Rfe9446e204de4d20"/>
    <p:sldLayoutId xmlns:r="http://schemas.openxmlformats.org/officeDocument/2006/relationships" id="2147483654" r:id="R99e370a34869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b6a65170c4d17" /><Relationship Type="http://schemas.openxmlformats.org/officeDocument/2006/relationships/notesSlide" Target="/ppt/notesSlides/notesSlide1.xml" Id="R2774eefb63c843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930766bcd43f9" /><Relationship Type="http://schemas.openxmlformats.org/officeDocument/2006/relationships/notesSlide" Target="/ppt/notesSlides/notesSlide2.xml" Id="R24e5cdeb607842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e7737799549f2" /><Relationship Type="http://schemas.openxmlformats.org/officeDocument/2006/relationships/notesSlide" Target="/ppt/notesSlides/notesSlide3.xml" Id="Ra6130f6c54c644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85F62-6D77-4D93-83BE-CEFEE29D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339"/>
                </a:solidFill>
              </a:defRPr>
            </a:defPPr>
            <a:lvl1pPr>
              <a:defRPr sz="3000" b="1">
                <a:solidFill>
                  <a:srgbClr val="102339"/>
                </a:solidFill>
              </a:defRPr>
            </a:lvl1pPr>
            <a:lvl2pPr>
              <a:defRPr sz="3000" b="1">
                <a:solidFill>
                  <a:srgbClr val="102339"/>
                </a:solidFill>
              </a:defRPr>
            </a:lvl2pPr>
            <a:lvl3pPr>
              <a:defRPr sz="3000" b="1">
                <a:solidFill>
                  <a:srgbClr val="102339"/>
                </a:solidFill>
              </a:defRPr>
            </a:lvl3pPr>
            <a:lvl4pPr>
              <a:defRPr sz="3000" b="1">
                <a:solidFill>
                  <a:srgbClr val="102339"/>
                </a:solidFill>
              </a:defRPr>
            </a:lvl4pPr>
            <a:lvl5pPr>
              <a:defRPr sz="3000" b="1">
                <a:solidFill>
                  <a:srgbClr val="102339"/>
                </a:solidFill>
              </a:defRPr>
            </a:lvl5pPr>
            <a:lvl6pPr>
              <a:defRPr sz="3000" b="1">
                <a:solidFill>
                  <a:srgbClr val="102339"/>
                </a:solidFill>
              </a:defRPr>
            </a:lvl6pPr>
            <a:lvl7pPr>
              <a:defRPr sz="3000" b="1">
                <a:solidFill>
                  <a:srgbClr val="102339"/>
                </a:solidFill>
              </a:defRPr>
            </a:lvl7pPr>
            <a:lvl8pPr>
              <a:defRPr sz="3000" b="1">
                <a:solidFill>
                  <a:srgbClr val="102339"/>
                </a:solidFill>
              </a:defRPr>
            </a:lvl8pPr>
            <a:lvl9pPr>
              <a:defRPr sz="3000" b="1">
                <a:solidFill>
                  <a:srgbClr val="102339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339"/>
                </a:solidFill>
              </a:defRPr>
            </a:pPr>
            <a:r>
              <a:rPr sz="3000" b="1">
                <a:solidFill>
                  <a:srgbClr val="102339"/>
                </a:solidFill>
              </a:rPr>
              <a:t>구현된 기능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E1D8D-72ED-439C-AE28-068514B31096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29627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5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현재 구현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55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데이터 적재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15개 테이블 로딩, CSV 적재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운영 현황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완료·미완료·사건·설비 상태 지표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통합 조회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블록·작업·설비·사건 및 지연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상세 이력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실적, 검사·재작업, 설비 상태 구간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운영요약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규칙 기반 초안 생성과 편집·복사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B22DF-54A0-4222-A49A-CBAB2EB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58998"/>
                </a:solidFill>
              </a:defRPr>
            </a:defPPr>
            <a:lvl1pPr>
              <a:defRPr sz="1125">
                <a:solidFill>
                  <a:srgbClr val="758998"/>
                </a:solidFill>
              </a:defRPr>
            </a:lvl1pPr>
            <a:lvl2pPr>
              <a:defRPr sz="1125">
                <a:solidFill>
                  <a:srgbClr val="758998"/>
                </a:solidFill>
              </a:defRPr>
            </a:lvl2pPr>
            <a:lvl3pPr>
              <a:defRPr sz="1125">
                <a:solidFill>
                  <a:srgbClr val="758998"/>
                </a:solidFill>
              </a:defRPr>
            </a:lvl3pPr>
            <a:lvl4pPr>
              <a:defRPr sz="1125">
                <a:solidFill>
                  <a:srgbClr val="758998"/>
                </a:solidFill>
              </a:defRPr>
            </a:lvl4pPr>
            <a:lvl5pPr>
              <a:defRPr sz="1125">
                <a:solidFill>
                  <a:srgbClr val="758998"/>
                </a:solidFill>
              </a:defRPr>
            </a:lvl5pPr>
            <a:lvl6pPr>
              <a:defRPr sz="1125">
                <a:solidFill>
                  <a:srgbClr val="758998"/>
                </a:solidFill>
              </a:defRPr>
            </a:lvl6pPr>
            <a:lvl7pPr>
              <a:defRPr sz="1125">
                <a:solidFill>
                  <a:srgbClr val="758998"/>
                </a:solidFill>
              </a:defRPr>
            </a:lvl7pPr>
            <a:lvl8pPr>
              <a:defRPr sz="1125">
                <a:solidFill>
                  <a:srgbClr val="758998"/>
                </a:solidFill>
              </a:defRPr>
            </a:lvl8pPr>
            <a:lvl9pPr>
              <a:defRPr sz="1125">
                <a:solidFill>
                  <a:srgbClr val="758998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758998"/>
                </a:solidFill>
              </a:defRPr>
            </a:pPr>
            <a:r>
              <a:rPr sz="1125">
                <a:solidFill>
                  <a:srgbClr val="758998"/>
                </a:solidFill>
              </a:rPr>
              <a:t>2026.10.26 요구사항 대조 보고서 기준</a:t>
            </a:r>
          </a:p>
        </p:txBody>
      </p:sp>
    </p:spTree>
    <p:extLst>
      <p:ext uri="{BB962C8B-B14F-4D97-AF65-F5344CB8AC3E}">
        <p14:creationId xmlns:p14="http://schemas.microsoft.com/office/powerpoint/2010/main" val="2063207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BB36A-3843-4ABD-AB90-CEE2F5BF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339"/>
                </a:solidFill>
              </a:defRPr>
            </a:defPPr>
            <a:lvl1pPr>
              <a:defRPr sz="3000" b="1">
                <a:solidFill>
                  <a:srgbClr val="102339"/>
                </a:solidFill>
              </a:defRPr>
            </a:lvl1pPr>
            <a:lvl2pPr>
              <a:defRPr sz="3000" b="1">
                <a:solidFill>
                  <a:srgbClr val="102339"/>
                </a:solidFill>
              </a:defRPr>
            </a:lvl2pPr>
            <a:lvl3pPr>
              <a:defRPr sz="3000" b="1">
                <a:solidFill>
                  <a:srgbClr val="102339"/>
                </a:solidFill>
              </a:defRPr>
            </a:lvl3pPr>
            <a:lvl4pPr>
              <a:defRPr sz="3000" b="1">
                <a:solidFill>
                  <a:srgbClr val="102339"/>
                </a:solidFill>
              </a:defRPr>
            </a:lvl4pPr>
            <a:lvl5pPr>
              <a:defRPr sz="3000" b="1">
                <a:solidFill>
                  <a:srgbClr val="102339"/>
                </a:solidFill>
              </a:defRPr>
            </a:lvl5pPr>
            <a:lvl6pPr>
              <a:defRPr sz="3000" b="1">
                <a:solidFill>
                  <a:srgbClr val="102339"/>
                </a:solidFill>
              </a:defRPr>
            </a:lvl6pPr>
            <a:lvl7pPr>
              <a:defRPr sz="3000" b="1">
                <a:solidFill>
                  <a:srgbClr val="102339"/>
                </a:solidFill>
              </a:defRPr>
            </a:lvl7pPr>
            <a:lvl8pPr>
              <a:defRPr sz="3000" b="1">
                <a:solidFill>
                  <a:srgbClr val="102339"/>
                </a:solidFill>
              </a:defRPr>
            </a:lvl8pPr>
            <a:lvl9pPr>
              <a:defRPr sz="3000" b="1">
                <a:solidFill>
                  <a:srgbClr val="102339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339"/>
                </a:solidFill>
              </a:defRPr>
            </a:pPr>
            <a:r>
              <a:rPr sz="3000" b="1">
                <a:solidFill>
                  <a:srgbClr val="102339"/>
                </a:solidFill>
              </a:rPr>
              <a:t>부분 구현 및 보완 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82FB6-C1C3-4026-B648-A889B980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58998"/>
                </a:solidFill>
              </a:defRPr>
            </a:defPPr>
            <a:lvl1pPr>
              <a:defRPr sz="1125">
                <a:solidFill>
                  <a:srgbClr val="758998"/>
                </a:solidFill>
              </a:defRPr>
            </a:lvl1pPr>
            <a:lvl2pPr>
              <a:defRPr sz="1125">
                <a:solidFill>
                  <a:srgbClr val="758998"/>
                </a:solidFill>
              </a:defRPr>
            </a:lvl2pPr>
            <a:lvl3pPr>
              <a:defRPr sz="1125">
                <a:solidFill>
                  <a:srgbClr val="758998"/>
                </a:solidFill>
              </a:defRPr>
            </a:lvl3pPr>
            <a:lvl4pPr>
              <a:defRPr sz="1125">
                <a:solidFill>
                  <a:srgbClr val="758998"/>
                </a:solidFill>
              </a:defRPr>
            </a:lvl4pPr>
            <a:lvl5pPr>
              <a:defRPr sz="1125">
                <a:solidFill>
                  <a:srgbClr val="758998"/>
                </a:solidFill>
              </a:defRPr>
            </a:lvl5pPr>
            <a:lvl6pPr>
              <a:defRPr sz="1125">
                <a:solidFill>
                  <a:srgbClr val="758998"/>
                </a:solidFill>
              </a:defRPr>
            </a:lvl6pPr>
            <a:lvl7pPr>
              <a:defRPr sz="1125">
                <a:solidFill>
                  <a:srgbClr val="758998"/>
                </a:solidFill>
              </a:defRPr>
            </a:lvl7pPr>
            <a:lvl8pPr>
              <a:defRPr sz="1125">
                <a:solidFill>
                  <a:srgbClr val="758998"/>
                </a:solidFill>
              </a:defRPr>
            </a:lvl8pPr>
            <a:lvl9pPr>
              <a:defRPr sz="1125">
                <a:solidFill>
                  <a:srgbClr val="758998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758998"/>
                </a:solidFill>
              </a:defRPr>
            </a:pPr>
            <a:r>
              <a:rPr sz="1125">
                <a:solidFill>
                  <a:srgbClr val="758998"/>
                </a:solidFill>
              </a:rPr>
              <a:t>2026.10.26 요구사항 대조 보고서 기준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2B86F-B280-4F17-A469-A0D54AAB8F1E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29627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5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현재 상태와 보완할 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55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데이터 검증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화면에서 일부 검증  /  서버 업무 규칙 보강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생산 계획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작업별 계획·누적 실적  /  기간별 비교 확대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공정 배치도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공정 순서 배치  /  구역 좌표 반영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과거 이력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계산 로직 존재  /  시각 선택·재생 화면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고장시간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사건 경과시간 표시  /  설비 상태 구간 기준 계산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133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6C2AD-8770-41B9-9603-01EE4224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339"/>
                </a:solidFill>
              </a:defRPr>
            </a:defPPr>
            <a:lvl1pPr>
              <a:defRPr sz="3000" b="1">
                <a:solidFill>
                  <a:srgbClr val="102339"/>
                </a:solidFill>
              </a:defRPr>
            </a:lvl1pPr>
            <a:lvl2pPr>
              <a:defRPr sz="3000" b="1">
                <a:solidFill>
                  <a:srgbClr val="102339"/>
                </a:solidFill>
              </a:defRPr>
            </a:lvl2pPr>
            <a:lvl3pPr>
              <a:defRPr sz="3000" b="1">
                <a:solidFill>
                  <a:srgbClr val="102339"/>
                </a:solidFill>
              </a:defRPr>
            </a:lvl3pPr>
            <a:lvl4pPr>
              <a:defRPr sz="3000" b="1">
                <a:solidFill>
                  <a:srgbClr val="102339"/>
                </a:solidFill>
              </a:defRPr>
            </a:lvl4pPr>
            <a:lvl5pPr>
              <a:defRPr sz="3000" b="1">
                <a:solidFill>
                  <a:srgbClr val="102339"/>
                </a:solidFill>
              </a:defRPr>
            </a:lvl5pPr>
            <a:lvl6pPr>
              <a:defRPr sz="3000" b="1">
                <a:solidFill>
                  <a:srgbClr val="102339"/>
                </a:solidFill>
              </a:defRPr>
            </a:lvl6pPr>
            <a:lvl7pPr>
              <a:defRPr sz="3000" b="1">
                <a:solidFill>
                  <a:srgbClr val="102339"/>
                </a:solidFill>
              </a:defRPr>
            </a:lvl7pPr>
            <a:lvl8pPr>
              <a:defRPr sz="3000" b="1">
                <a:solidFill>
                  <a:srgbClr val="102339"/>
                </a:solidFill>
              </a:defRPr>
            </a:lvl8pPr>
            <a:lvl9pPr>
              <a:defRPr sz="3000" b="1">
                <a:solidFill>
                  <a:srgbClr val="102339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339"/>
                </a:solidFill>
              </a:defRPr>
            </a:pPr>
            <a:r>
              <a:rPr sz="3000" b="1">
                <a:solidFill>
                  <a:srgbClr val="102339"/>
                </a:solidFill>
              </a:rPr>
              <a:t>미구현 항목 및 검증 범위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BC593-9EFE-40F1-A685-F05D6E45CBD1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29627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5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현재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55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권한 관리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계정 인증 및 서버 권한 통제 없음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감사 이력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변경자와 변경 전후 값 저장 없음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서버 운영요약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집계와 요약을 브라우저에서 수행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AI 요약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실제 AI 모델 및 API 연동 없음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검증 범위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C50"/>
                          </a:solidFill>
                        </a:rPr>
                        <a:t>코드·샘플 데이터 조사; 브라우저·API 검증은 남음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1169D-9C49-4EAC-BF7D-72A2815A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758998"/>
                </a:solidFill>
              </a:defRPr>
            </a:defPPr>
            <a:lvl1pPr>
              <a:defRPr sz="1125">
                <a:solidFill>
                  <a:srgbClr val="758998"/>
                </a:solidFill>
              </a:defRPr>
            </a:lvl1pPr>
            <a:lvl2pPr>
              <a:defRPr sz="1125">
                <a:solidFill>
                  <a:srgbClr val="758998"/>
                </a:solidFill>
              </a:defRPr>
            </a:lvl2pPr>
            <a:lvl3pPr>
              <a:defRPr sz="1125">
                <a:solidFill>
                  <a:srgbClr val="758998"/>
                </a:solidFill>
              </a:defRPr>
            </a:lvl3pPr>
            <a:lvl4pPr>
              <a:defRPr sz="1125">
                <a:solidFill>
                  <a:srgbClr val="758998"/>
                </a:solidFill>
              </a:defRPr>
            </a:lvl4pPr>
            <a:lvl5pPr>
              <a:defRPr sz="1125">
                <a:solidFill>
                  <a:srgbClr val="758998"/>
                </a:solidFill>
              </a:defRPr>
            </a:lvl5pPr>
            <a:lvl6pPr>
              <a:defRPr sz="1125">
                <a:solidFill>
                  <a:srgbClr val="758998"/>
                </a:solidFill>
              </a:defRPr>
            </a:lvl6pPr>
            <a:lvl7pPr>
              <a:defRPr sz="1125">
                <a:solidFill>
                  <a:srgbClr val="758998"/>
                </a:solidFill>
              </a:defRPr>
            </a:lvl7pPr>
            <a:lvl8pPr>
              <a:defRPr sz="1125">
                <a:solidFill>
                  <a:srgbClr val="758998"/>
                </a:solidFill>
              </a:defRPr>
            </a:lvl8pPr>
            <a:lvl9pPr>
              <a:defRPr sz="1125">
                <a:solidFill>
                  <a:srgbClr val="758998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758998"/>
                </a:solidFill>
              </a:defRPr>
            </a:pPr>
            <a:r>
              <a:rPr sz="1125">
                <a:solidFill>
                  <a:srgbClr val="758998"/>
                </a:solidFill>
              </a:rPr>
              <a:t>2026.10.26 요구사항 대조 보고서 기준</a:t>
            </a:r>
          </a:p>
        </p:txBody>
      </p:sp>
    </p:spTree>
    <p:extLst>
      <p:ext uri="{BB962C8B-B14F-4D97-AF65-F5344CB8AC3E}">
        <p14:creationId xmlns:p14="http://schemas.microsoft.com/office/powerpoint/2010/main" val="1336725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2026-10-26T23:52:07.3210000Z</dcterms:created>
  <dcterms:modified xsi:type="dcterms:W3CDTF">2026-10-26T23:52:07.3210000Z</dcterms:modified>
</coreProperties>
</file>